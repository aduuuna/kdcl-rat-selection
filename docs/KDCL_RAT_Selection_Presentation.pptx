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1109167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Knowledge Distillation via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Collaborative Learning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8036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4G and 5G RAT Selection in Heterogeneous Networks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023360"/>
            <a:ext cx="110916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Joy Owusu Ansah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11341365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Mr. Julius Yaw Ludu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Science, University of Ghana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and Setup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11091672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RTR NetzTest Austria, real crowdsourced network telemetry, 2024 to 2025</a:t>
            </a:r>
            <a:endParaRPr lang="en-US" sz="1800" dirty="0"/>
          </a:p>
          <a:p>
            <a:pPr marL="342900" indent="-342900">
              <a:spcAft>
                <a:spcPts val="2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compared: 4G and 5G</a:t>
            </a:r>
            <a:endParaRPr lang="en-US" sz="1800" dirty="0"/>
          </a:p>
          <a:p>
            <a:pPr marL="342900" indent="-342900">
              <a:spcAft>
                <a:spcPts val="2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capacity gap: 5G mean download throughput is about 3.8 times that of 4G</a:t>
            </a:r>
            <a:endParaRPr lang="en-US" sz="1800" dirty="0"/>
          </a:p>
          <a:p>
            <a:pPr marL="342900" indent="-342900">
              <a:spcAft>
                <a:spcPts val="2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5G devices report real anchor carrier signal data, giving richer features than earlier 3G comparisons</a:t>
            </a:r>
            <a:endParaRPr lang="en-US" sz="1800" dirty="0"/>
          </a:p>
          <a:p>
            <a:pPr marL="342900" indent="-342900">
              <a:spcAft>
                <a:spcPts val="2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200,000 training rows, 17 real radio condition features per row</a:t>
            </a:r>
            <a:endParaRPr lang="en-US" sz="1800" dirty="0"/>
          </a:p>
          <a:p>
            <a:pPr marL="342900" indent="-342900">
              <a:spcAft>
                <a:spcPts val="2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agents trained: a smaller model for 4G, a larger model for 5G, matching the real capacity difference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Approach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11091672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2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configurations compared: Vanilla, Deep Mutual Learning, KDCL MinLogit, KDCL Linear, adapted On the Fly Native Ensemble, and Offline Knowledge Distillation</a:t>
            </a:r>
            <a:endParaRPr lang="en-US" sz="1800" dirty="0"/>
          </a:p>
          <a:p>
            <a:pPr marL="342900" indent="-342900">
              <a:spcAft>
                <a:spcPts val="22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KDCL idea: agents train together and build a shared teacher signal from each other's predictions, with no fixed pretrained teacher</a:t>
            </a:r>
            <a:endParaRPr lang="en-US" sz="1800" dirty="0"/>
          </a:p>
          <a:p>
            <a:pPr marL="342900" indent="-342900">
              <a:spcAft>
                <a:spcPts val="22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Invariant Collaborative Learning: each agent trains on a differently distorted version of the same input, using noise and fading, for robustness</a:t>
            </a:r>
            <a:endParaRPr lang="en-US" sz="1800" dirty="0"/>
          </a:p>
          <a:p>
            <a:pPr marL="342900" indent="-342900">
              <a:spcAft>
                <a:spcPts val="22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method trained across 3 random seeds, 50 full epochs each</a:t>
            </a:r>
            <a:endParaRPr lang="en-US" sz="1800" dirty="0"/>
          </a:p>
          <a:p>
            <a:pPr marL="342900" indent="-342900">
              <a:spcAft>
                <a:spcPts val="22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real training runs completed in total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11091672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2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Mutual Learning shows real negative transfer compared to independent training</a:t>
            </a:r>
            <a:endParaRPr lang="en-US" sz="1800" dirty="0"/>
          </a:p>
          <a:p>
            <a:pPr marL="342900" indent="-342900">
              <a:spcAft>
                <a:spcPts val="22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KDCL MinLogit fully recovers this loss and matches independent training performance</a:t>
            </a:r>
            <a:endParaRPr lang="en-US" sz="1800" dirty="0"/>
          </a:p>
          <a:p>
            <a:pPr marL="342900" indent="-342900">
              <a:spcAft>
                <a:spcPts val="22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KDCL MinLogit is the single best performing method on the 4G agent overall</a:t>
            </a:r>
            <a:endParaRPr lang="en-US" sz="1800" dirty="0"/>
          </a:p>
          <a:p>
            <a:pPr marL="342900" indent="-342900">
              <a:spcAft>
                <a:spcPts val="22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KDCL Linear performs equivalently to KDCL MinLogit, confirming the original paper's own finding</a:t>
            </a:r>
            <a:endParaRPr lang="en-US" sz="1800" dirty="0"/>
          </a:p>
          <a:p>
            <a:pPr marL="342900" indent="-342900">
              <a:spcAft>
                <a:spcPts val="22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KDCL degrades more gracefully than independent training when noise is injected at test time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in Numbers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accuracy, mean and standard deviation across 3 seeds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2331720"/>
        </p:xfrm>
        <a:graphic>
          <a:graphicData uri="http://schemas.openxmlformats.org/drawingml/2006/table">
            <a:tbl>
              <a:tblPr/>
              <a:tblGrid>
                <a:gridCol w="4658502"/>
                <a:gridCol w="3216585"/>
                <a:gridCol w="3216585"/>
              </a:tblGrid>
              <a:tr h="3337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4G test accuracy (%)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5G test accuracy (%)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337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Vanilla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50.64 ± 0.15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50.84 ± 0.13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37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 Mutual Learning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48.14 ± 0.31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48.23 ± 0.04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37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KDCL MinLogit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50.72 ± 0.16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50.77 ± 0.17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37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KDCL Linear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50.68 ± 0.14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50.72 ± 0.23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37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(adapted)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49.94 ± 0.47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49.56 ± 0.22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37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Offline KD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50.61 ± 0.23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applicable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416052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significance, independent two sample t test on per seed test accuracy</a:t>
            </a:r>
            <a:endParaRPr lang="en-US" sz="15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526280"/>
          <a:ext cx="11091672" cy="1691640"/>
        </p:xfrm>
        <a:graphic>
          <a:graphicData uri="http://schemas.openxmlformats.org/drawingml/2006/table">
            <a:tbl>
              <a:tblPr/>
              <a:tblGrid>
                <a:gridCol w="1774668"/>
                <a:gridCol w="3771168"/>
                <a:gridCol w="2772918"/>
                <a:gridCol w="2772918"/>
              </a:tblGrid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Comparison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value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Significant at 0.05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KDCL vs Vanilla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KDCL vs DML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KDCL vs Vanilla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KDCL vs DML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0.0001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737360"/>
            <a:ext cx="11091672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Chapters 1, 3 and 4 to reflect the new dataset and results</a:t>
            </a:r>
            <a:endParaRPr lang="en-US" sz="2000" dirty="0"/>
          </a:p>
          <a:p>
            <a:pPr marL="342900" indent="-342900">
              <a:spcAft>
                <a:spcPts val="20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 a confirmatory run on the full 1.4 million row dataset</a:t>
            </a:r>
            <a:endParaRPr lang="en-US" sz="2000" dirty="0"/>
          </a:p>
          <a:p>
            <a:pPr marL="342900" indent="-342900">
              <a:spcAft>
                <a:spcPts val="20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 the RAT recommender evaluation and report its result honestly, including its modest but real agreement rate</a:t>
            </a:r>
            <a:endParaRPr lang="en-US" sz="2000" dirty="0"/>
          </a:p>
          <a:p>
            <a:pPr marL="342900" indent="-342900">
              <a:spcAft>
                <a:spcPts val="20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the final thesis submission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2026-09-24T07:26:02Z</dcterms:created>
  <dcterms:modified xsi:type="dcterms:W3CDTF">2026-09-24T07:26:02Z</dcterms:modified>
</cp:coreProperties>
</file>